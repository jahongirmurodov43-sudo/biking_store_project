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1F5F9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F1F5F9"/>
                </a:solidFill>
                <a:latin typeface="Calibri"/>
              </a:rPr>
              <a:t>Net revenue by store — Baldwin generates 68% of all revenue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 revenue</c:v>
                </c:pt>
              </c:strCache>
            </c:strRef>
          </c:tx>
          <c:spPr>
            <a:solidFill>
              <a:srgbClr val="02C39A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1F5F9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Baldwin Bikes (NY)</c:v>
                  </c:pt>
                  <c:pt idx="1">
                    <c:v>Santa Cruz Bikes (CA)</c:v>
                  </c:pt>
                  <c:pt idx="2">
                    <c:v>Rowlett Bikes (TX)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5215751</c:v>
                </c:pt>
                <c:pt idx="1">
                  <c:v>1605823</c:v>
                </c:pt>
                <c:pt idx="2">
                  <c:v>867542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1F5F9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B8E8D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2A3A5C"/>
              </a:solidFill>
              <a:prstDash val="solid"/>
              <a:round/>
            </a:ln>
          </c:spPr>
        </c:majorGridlines>
        <c:numFmt formatCode="$0.0,,&quot;M&quot;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F1729"/>
        </a:solidFill>
        <a:ln>
          <a:noFill/>
        </a:ln>
        <a:effectLst/>
      </c:spPr>
    </c:plotArea>
    <c:plotVisOnly val="1"/>
    <c:dispBlanksAs val="span"/>
  </c:chart>
  <c:spPr>
    <a:solidFill>
      <a:srgbClr val="0F1729"/>
    </a:solidFill>
    <a:ln w="12700" cap="flat">
      <a:solidFill>
        <a:srgbClr val="0F1729"/>
      </a:solidFill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1F5F9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F1F5F9"/>
                </a:solidFill>
                <a:latin typeface="Calibri"/>
              </a:rPr>
              <a:t>Net revenue by year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 revenue</c:v>
                </c:pt>
              </c:strCache>
            </c:strRef>
          </c:tx>
          <c:spPr>
            <a:solidFill>
              <a:srgbClr val="02C39A"/>
            </a:solidFill>
            <a:effectLst/>
          </c:spPr>
          <c:invertIfNegative val="0"/>
          <c:dLbls>
            <c:numFmt formatCode="$0.0,,&quot;M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1F5F9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2016</c:v>
                  </c:pt>
                  <c:pt idx="1">
                    <c:v>2017</c:v>
                  </c:pt>
                  <c:pt idx="2">
                    <c:v>2018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2427379</c:v>
                </c:pt>
                <c:pt idx="1">
                  <c:v>3447208</c:v>
                </c:pt>
                <c:pt idx="2">
                  <c:v>1814530</c:v>
                </c:pt>
              </c:numCache>
            </c:numRef>
          </c:val>
        </c:ser>
        <c:dLbls>
          <c:numFmt formatCode="$0.0,,&quot;M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F1F5F9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8E8D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3A5C"/>
              </a:solidFill>
              <a:prstDash val="solid"/>
              <a:round/>
            </a:ln>
          </c:spPr>
        </c:majorGridlines>
        <c:numFmt formatCode="$0.0,,&quot;M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F1729"/>
        </a:solidFill>
        <a:ln>
          <a:noFill/>
        </a:ln>
        <a:effectLst/>
      </c:spPr>
    </c:plotArea>
    <c:plotVisOnly val="1"/>
    <c:dispBlanksAs val="span"/>
  </c:chart>
  <c:spPr>
    <a:solidFill>
      <a:srgbClr val="0F1729"/>
    </a:solidFill>
    <a:ln w="12700" cap="flat">
      <a:solidFill>
        <a:srgbClr val="0F1729"/>
      </a:solidFill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1F5F9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F1F5F9"/>
                </a:solidFill>
                <a:latin typeface="Calibri"/>
              </a:rPr>
              <a:t>Revenue by category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 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2C39A"/>
              </a:solidFill>
              <a:effectLst/>
            </c:spPr>
          </c:dPt>
          <c:dPt>
            <c:idx val="1"/>
            <c:bubble3D val="0"/>
            <c:spPr>
              <a:solidFill>
                <a:srgbClr val="00A896"/>
              </a:solidFill>
              <a:effectLst/>
            </c:spPr>
          </c:dPt>
          <c:dPt>
            <c:idx val="2"/>
            <c:bubble3D val="0"/>
            <c:spPr>
              <a:solidFill>
                <a:srgbClr val="028090"/>
              </a:solidFill>
              <a:effectLst/>
            </c:spPr>
          </c:dPt>
          <c:dPt>
            <c:idx val="3"/>
            <c:bubble3D val="0"/>
            <c:spPr>
              <a:solidFill>
                <a:srgbClr val="05668D"/>
              </a:solidFill>
              <a:effectLst/>
            </c:spPr>
          </c:dPt>
          <c:dPt>
            <c:idx val="4"/>
            <c:bubble3D val="0"/>
            <c:spPr>
              <a:solidFill>
                <a:srgbClr val="3D7EA6"/>
              </a:solidFill>
              <a:effectLst/>
            </c:spPr>
          </c:dPt>
          <c:dPt>
            <c:idx val="5"/>
            <c:bubble3D val="0"/>
            <c:spPr>
              <a:solidFill>
                <a:srgbClr val="6FA8C9"/>
              </a:solidFill>
              <a:effectLst/>
            </c:spPr>
          </c:dPt>
          <c:dPt>
            <c:idx val="6"/>
            <c:bubble3D val="0"/>
            <c:spPr>
              <a:solidFill>
                <a:srgbClr val="A9CCE0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0F1729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0F1729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0F1729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0F1729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0F1729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0F1729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6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0F1729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Sheet1!$A$2:$A$8</c:f>
              <c:strCache>
                <c:ptCount val="7"/>
                <c:pt idx="0">
                  <c:v>Mountain</c:v>
                </c:pt>
                <c:pt idx="1">
                  <c:v>Road</c:v>
                </c:pt>
                <c:pt idx="2">
                  <c:v>Cruisers</c:v>
                </c:pt>
                <c:pt idx="3">
                  <c:v>Electric</c:v>
                </c:pt>
                <c:pt idx="4">
                  <c:v>Cyclocross</c:v>
                </c:pt>
                <c:pt idx="5">
                  <c:v>Comfort</c:v>
                </c:pt>
                <c:pt idx="6">
                  <c:v>Children</c:v>
                </c:pt>
              </c:strCache>
            </c:strRef>
          </c:cat>
          <c:val>
            <c:numRef>
              <c:f>Sheet1!$B$2:$B$8</c:f>
              <c:numCache>
                <c:ptCount val="7"/>
                <c:pt idx="0">
                  <c:v>2715080</c:v>
                </c:pt>
                <c:pt idx="1">
                  <c:v>1665098</c:v>
                </c:pt>
                <c:pt idx="2">
                  <c:v>995033</c:v>
                </c:pt>
                <c:pt idx="3">
                  <c:v>916685</c:v>
                </c:pt>
                <c:pt idx="4">
                  <c:v>711012</c:v>
                </c:pt>
                <c:pt idx="5">
                  <c:v>394020</c:v>
                </c:pt>
                <c:pt idx="6">
                  <c:v>292189</c:v>
                </c:pt>
              </c:numCache>
            </c:numRef>
          </c:val>
        </c:ser>
        <c:firstSliceAng val="0"/>
        <c:holeSize val="55"/>
      </c:doughnutChart>
      <c:spPr>
        <a:solidFill>
          <a:srgbClr val="0F1729"/>
        </a:solidFill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>
              <a:solidFill>
                <a:srgbClr val="B8E8DC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0F1729"/>
    </a:solidFill>
    <a:ln w="12700" cap="flat">
      <a:solidFill>
        <a:srgbClr val="0F1729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-822960"/>
            <a:ext cx="2377440" cy="2377440"/>
          </a:xfrm>
          <a:prstGeom prst="ellipse">
            <a:avLst/>
          </a:prstGeom>
          <a:ln w="254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3566160"/>
            <a:ext cx="2194560" cy="2194560"/>
          </a:xfrm>
          <a:prstGeom prst="ellipse">
            <a:avLst/>
          </a:prstGeom>
          <a:ln w="19050">
            <a:solidFill>
              <a:srgbClr val="02C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640080" y="3474720"/>
            <a:ext cx="2011680" cy="2011680"/>
          </a:xfrm>
          <a:prstGeom prst="ellipse">
            <a:avLst/>
          </a:prstGeom>
          <a:solidFill>
            <a:srgbClr val="16213C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960120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749808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 ·  DATA WAREHOUSE  ·  10/06/2026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417320"/>
            <a:ext cx="7680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2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BIKE STORE</a:t>
            </a:r>
            <a:endParaRPr lang="en-US" sz="42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2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WAREHOUSE</a:t>
            </a:r>
            <a:endParaRPr lang="en-US" sz="42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2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777240" y="40690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Jahongir Murodov</a:t>
            </a:r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from raw CSV files to business insights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640080"/>
            <a:ext cx="1645920" cy="1645920"/>
          </a:xfrm>
          <a:prstGeom prst="ellipse">
            <a:avLst/>
          </a:prstGeom>
          <a:ln w="1905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ABOUT THE PROJECT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SQL Server data warehouse that consolidates a bike retailer's sales data and turns it into analytics-ready insights.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560320" cy="2651760"/>
          </a:xfrm>
          <a:prstGeom prst="roundRect">
            <a:avLst>
              <a:gd name="adj" fmla="val 3571"/>
            </a:avLst>
          </a:prstGeom>
          <a:solidFill>
            <a:srgbClr val="1B2740"/>
          </a:solidFill>
          <a:ln w="12700">
            <a:solidFill>
              <a:srgbClr val="2433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240280"/>
            <a:ext cx="502920" cy="502920"/>
          </a:xfrm>
          <a:prstGeom prst="ellipse">
            <a:avLst/>
          </a:prstGeom>
          <a:solidFill>
            <a:srgbClr val="C08552"/>
          </a:solidFill>
          <a:ln/>
        </p:spPr>
      </p:sp>
      <p:sp>
        <p:nvSpPr>
          <p:cNvPr id="7" name="Text 5"/>
          <p:cNvSpPr/>
          <p:nvPr/>
        </p:nvSpPr>
        <p:spPr>
          <a:xfrm>
            <a:off x="1417320" y="22402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855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BRONZE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2926080"/>
            <a:ext cx="21031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landing zone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9 CSV files loaded as raw data: customers, orders, items, products, brands, categories, stores, staff, stocks.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090672" y="301752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337560" y="1965960"/>
            <a:ext cx="2560320" cy="2651760"/>
          </a:xfrm>
          <a:prstGeom prst="roundRect">
            <a:avLst>
              <a:gd name="adj" fmla="val 3571"/>
            </a:avLst>
          </a:prstGeom>
          <a:solidFill>
            <a:srgbClr val="1B2740"/>
          </a:solidFill>
          <a:ln w="12700">
            <a:solidFill>
              <a:srgbClr val="24335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66160" y="2240280"/>
            <a:ext cx="502920" cy="502920"/>
          </a:xfrm>
          <a:prstGeom prst="ellipse">
            <a:avLst/>
          </a:prstGeom>
          <a:solidFill>
            <a:srgbClr val="A8B2C1"/>
          </a:solidFill>
          <a:ln/>
        </p:spPr>
      </p:sp>
      <p:sp>
        <p:nvSpPr>
          <p:cNvPr id="12" name="Text 10"/>
          <p:cNvSpPr/>
          <p:nvPr/>
        </p:nvSpPr>
        <p:spPr>
          <a:xfrm>
            <a:off x="4206240" y="22402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B2C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SILVER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566160" y="2926080"/>
            <a:ext cx="21031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modeled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columns, primary &amp; foreign keys, validated dates — loaded in one safe transaction.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879592" y="301752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126480" y="1965960"/>
            <a:ext cx="2560320" cy="2651760"/>
          </a:xfrm>
          <a:prstGeom prst="roundRect">
            <a:avLst>
              <a:gd name="adj" fmla="val 3571"/>
            </a:avLst>
          </a:prstGeom>
          <a:solidFill>
            <a:srgbClr val="1B2740"/>
          </a:solidFill>
          <a:ln w="12700">
            <a:solidFill>
              <a:srgbClr val="24335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55080" y="2240280"/>
            <a:ext cx="502920" cy="502920"/>
          </a:xfrm>
          <a:prstGeom prst="ellipse">
            <a:avLst/>
          </a:prstGeom>
          <a:solidFill>
            <a:srgbClr val="E8C547"/>
          </a:solidFill>
          <a:ln/>
        </p:spPr>
      </p:sp>
      <p:sp>
        <p:nvSpPr>
          <p:cNvPr id="17" name="Text 15"/>
          <p:cNvSpPr/>
          <p:nvPr/>
        </p:nvSpPr>
        <p:spPr>
          <a:xfrm>
            <a:off x="6995160" y="22402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C5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GOLD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355080" y="2926080"/>
            <a:ext cx="21031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layer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views and stored procedures ready for reporting and dashboards.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48640" y="4023360"/>
            <a:ext cx="1737360" cy="1737360"/>
          </a:xfrm>
          <a:prstGeom prst="ellipse">
            <a:avLst/>
          </a:prstGeom>
          <a:ln w="1905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PROBLEMS DID WE HAVE?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3886200" cy="1600200"/>
          </a:xfrm>
          <a:prstGeom prst="roundRect">
            <a:avLst>
              <a:gd name="adj" fmla="val 5714"/>
            </a:avLst>
          </a:prstGeom>
          <a:solidFill>
            <a:srgbClr val="1B2740"/>
          </a:solidFill>
          <a:ln w="12700">
            <a:solidFill>
              <a:srgbClr val="24335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1732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508760" y="1399032"/>
            <a:ext cx="27432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 raw data</a:t>
            </a:r>
            <a:endParaRPr lang="en-US" sz="14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separate CSV files with no single, reliable source of truth for management.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709160" y="1234440"/>
            <a:ext cx="3886200" cy="1600200"/>
          </a:xfrm>
          <a:prstGeom prst="roundRect">
            <a:avLst>
              <a:gd name="adj" fmla="val 5714"/>
            </a:avLst>
          </a:prstGeom>
          <a:solidFill>
            <a:srgbClr val="1B2740"/>
          </a:solidFill>
          <a:ln w="12700">
            <a:solidFill>
              <a:srgbClr val="24335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41732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669280" y="1399032"/>
            <a:ext cx="27432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Dirty, untyped data</a:t>
            </a:r>
            <a:endParaRPr lang="en-US" sz="14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Dates stored as text, NULL strings, inconsistent types — unsafe for analysis.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3063240"/>
            <a:ext cx="3886200" cy="1600200"/>
          </a:xfrm>
          <a:prstGeom prst="roundRect">
            <a:avLst>
              <a:gd name="adj" fmla="val 5714"/>
            </a:avLst>
          </a:prstGeom>
          <a:solidFill>
            <a:srgbClr val="1B2740"/>
          </a:solidFill>
          <a:ln w="12700">
            <a:solidFill>
              <a:srgbClr val="24335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24612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508760" y="3227832"/>
            <a:ext cx="27432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store visibility</a:t>
            </a:r>
            <a:endParaRPr lang="en-US" sz="14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easy way to compare store performance, sales trends or inventory levels.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4709160" y="3063240"/>
            <a:ext cx="3886200" cy="1600200"/>
          </a:xfrm>
          <a:prstGeom prst="roundRect">
            <a:avLst>
              <a:gd name="adj" fmla="val 5714"/>
            </a:avLst>
          </a:prstGeom>
          <a:solidFill>
            <a:srgbClr val="1B2740"/>
          </a:solidFill>
          <a:ln w="12700">
            <a:solidFill>
              <a:srgbClr val="24335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324612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669280" y="3227832"/>
            <a:ext cx="27432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decisions</a:t>
            </a:r>
            <a:endParaRPr lang="en-US" sz="14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KPI — revenue, AOV, top products — had to be calculated manually each time.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182880"/>
            <a:ext cx="1371600" cy="1371600"/>
          </a:xfrm>
          <a:prstGeom prst="ellipse">
            <a:avLst/>
          </a:prstGeom>
          <a:ln w="1905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WAS SQL USED?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8046720" cy="777240"/>
          </a:xfrm>
          <a:prstGeom prst="roundRect">
            <a:avLst>
              <a:gd name="adj" fmla="val 9412"/>
            </a:avLst>
          </a:prstGeom>
          <a:solidFill>
            <a:srgbClr val="1B274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234440"/>
            <a:ext cx="64008" cy="7772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23444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load procedure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91840" y="123444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INSERT loads all 9 CSVs with timed, logged batches.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148840"/>
            <a:ext cx="8046720" cy="777240"/>
          </a:xfrm>
          <a:prstGeom prst="roundRect">
            <a:avLst>
              <a:gd name="adj" fmla="val 9412"/>
            </a:avLst>
          </a:prstGeom>
          <a:solidFill>
            <a:srgbClr val="1B2740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2148840"/>
            <a:ext cx="64008" cy="7772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14884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load procedure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91840" y="214884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Cleaned, typed tables with primary &amp; foreign keys — one safe transaction.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063240"/>
            <a:ext cx="8046720" cy="777240"/>
          </a:xfrm>
          <a:prstGeom prst="roundRect">
            <a:avLst>
              <a:gd name="adj" fmla="val 9412"/>
            </a:avLst>
          </a:prstGeom>
          <a:solidFill>
            <a:srgbClr val="1B2740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3063240"/>
            <a:ext cx="64008" cy="7772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06324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KPI views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291840" y="306324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revenue, average order value, inventory turnover, revenue by store, sales by brand &amp; category.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977640"/>
            <a:ext cx="8046720" cy="777240"/>
          </a:xfrm>
          <a:prstGeom prst="roundRect">
            <a:avLst>
              <a:gd name="adj" fmla="val 9412"/>
            </a:avLst>
          </a:prstGeom>
          <a:solidFill>
            <a:srgbClr val="1B2740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977640"/>
            <a:ext cx="64008" cy="7772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97764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procedures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291840" y="397764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Per-store KPI report, restock list (stock &lt; 5), year-over-year sales comparison.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RESULTS DID WE GET?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874520" cy="1188720"/>
          </a:xfrm>
          <a:prstGeom prst="roundRect">
            <a:avLst>
              <a:gd name="adj" fmla="val 7692"/>
            </a:avLst>
          </a:prstGeom>
          <a:solidFill>
            <a:srgbClr val="1B2740"/>
          </a:solidFill>
          <a:ln w="12700">
            <a:solidFill>
              <a:srgbClr val="24335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61872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$7.69M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48640" y="1847088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REVENUE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628900" y="1143000"/>
            <a:ext cx="1874520" cy="1188720"/>
          </a:xfrm>
          <a:prstGeom prst="roundRect">
            <a:avLst>
              <a:gd name="adj" fmla="val 7692"/>
            </a:avLst>
          </a:prstGeom>
          <a:solidFill>
            <a:srgbClr val="1B2740"/>
          </a:solidFill>
          <a:ln w="12700">
            <a:solidFill>
              <a:srgbClr val="24335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28900" y="1261872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1,615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2628900" y="1847088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09160" y="1143000"/>
            <a:ext cx="1874520" cy="1188720"/>
          </a:xfrm>
          <a:prstGeom prst="roundRect">
            <a:avLst>
              <a:gd name="adj" fmla="val 7692"/>
            </a:avLst>
          </a:prstGeom>
          <a:solidFill>
            <a:srgbClr val="1B2740"/>
          </a:solidFill>
          <a:ln w="12700">
            <a:solidFill>
              <a:srgbClr val="24335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1261872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$4,761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4709160" y="1847088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VALUE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789420" y="1143000"/>
            <a:ext cx="1874520" cy="1188720"/>
          </a:xfrm>
          <a:prstGeom prst="roundRect">
            <a:avLst>
              <a:gd name="adj" fmla="val 7692"/>
            </a:avLst>
          </a:prstGeom>
          <a:solidFill>
            <a:srgbClr val="1B2740"/>
          </a:solidFill>
          <a:ln w="12700">
            <a:solidFill>
              <a:srgbClr val="24335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89420" y="1261872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1,445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6789420" y="1847088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05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548640" y="2560320"/>
          <a:ext cx="804672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INSIGHTS FROM THE DATA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51560"/>
          <a:ext cx="411480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4754880" y="1051560"/>
          <a:ext cx="393192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Shape 1"/>
          <p:cNvSpPr/>
          <p:nvPr/>
        </p:nvSpPr>
        <p:spPr>
          <a:xfrm>
            <a:off x="548640" y="3703320"/>
            <a:ext cx="2606040" cy="1097280"/>
          </a:xfrm>
          <a:prstGeom prst="roundRect">
            <a:avLst>
              <a:gd name="adj" fmla="val 8333"/>
            </a:avLst>
          </a:prstGeom>
          <a:solidFill>
            <a:srgbClr val="1B2740"/>
          </a:solidFill>
          <a:ln w="12700">
            <a:solidFill>
              <a:srgbClr val="243353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685800" y="379476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Trek = 60%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revenue ($4.6M of $7.69M) — one brand dominates.</a:t>
            </a:r>
            <a:endParaRPr lang="en-US" sz="1400" dirty="0"/>
          </a:p>
        </p:txBody>
      </p:sp>
      <p:sp>
        <p:nvSpPr>
          <p:cNvPr id="7" name="Shape 3"/>
          <p:cNvSpPr/>
          <p:nvPr/>
        </p:nvSpPr>
        <p:spPr>
          <a:xfrm>
            <a:off x="3337560" y="3703320"/>
            <a:ext cx="2606040" cy="1097280"/>
          </a:xfrm>
          <a:prstGeom prst="roundRect">
            <a:avLst>
              <a:gd name="adj" fmla="val 8333"/>
            </a:avLst>
          </a:prstGeom>
          <a:solidFill>
            <a:srgbClr val="1B2740"/>
          </a:solidFill>
          <a:ln w="12700">
            <a:solidFill>
              <a:srgbClr val="243353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3474720" y="379476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seller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Electra Cruiser 1 (24-inch) — 296 units sold.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6126480" y="3703320"/>
            <a:ext cx="2606040" cy="1097280"/>
          </a:xfrm>
          <a:prstGeom prst="roundRect">
            <a:avLst>
              <a:gd name="adj" fmla="val 8333"/>
            </a:avLst>
          </a:prstGeom>
          <a:solidFill>
            <a:srgbClr val="1B2740"/>
          </a:solidFill>
          <a:ln w="12700">
            <a:solidFill>
              <a:srgbClr val="243353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263640" y="379476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166 items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5 units in stock — flagged by the restock procedure.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48640" y="-640080"/>
            <a:ext cx="1737360" cy="1737360"/>
          </a:xfrm>
          <a:prstGeom prst="ellipse">
            <a:avLst/>
          </a:prstGeom>
          <a:ln w="1905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21040" y="3931920"/>
            <a:ext cx="1554480" cy="1554480"/>
          </a:xfrm>
          <a:prstGeom prst="ellipse">
            <a:avLst/>
          </a:prstGeom>
          <a:ln w="1905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GOALS SHOULD BE SET?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2606040" cy="3108960"/>
          </a:xfrm>
          <a:prstGeom prst="roundRect">
            <a:avLst>
              <a:gd name="adj" fmla="val 3509"/>
            </a:avLst>
          </a:prstGeom>
          <a:solidFill>
            <a:srgbClr val="1B2740"/>
          </a:solidFill>
          <a:ln w="12700">
            <a:solidFill>
              <a:srgbClr val="2433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31620" y="169164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153162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606040"/>
            <a:ext cx="22402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live dashboard</a:t>
            </a:r>
            <a:endParaRPr lang="en-US" sz="1500" dirty="0"/>
          </a:p>
          <a:p>
            <a:pPr algn="ctr" indent="0" marL="0">
              <a:buNone/>
            </a:pPr>
            <a:endParaRPr lang="en-US" sz="150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the Gold views to Power BI for daily monitoring of revenue, orders and stock.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337560" y="1371600"/>
            <a:ext cx="2606040" cy="3108960"/>
          </a:xfrm>
          <a:prstGeom prst="roundRect">
            <a:avLst>
              <a:gd name="adj" fmla="val 3509"/>
            </a:avLst>
          </a:prstGeom>
          <a:solidFill>
            <a:srgbClr val="1B2740"/>
          </a:solidFill>
          <a:ln w="12700">
            <a:solidFill>
              <a:srgbClr val="24335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20540" y="169164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432054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20440" y="2606040"/>
            <a:ext cx="22402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the pipeline</a:t>
            </a:r>
            <a:endParaRPr lang="en-US" sz="1500" dirty="0"/>
          </a:p>
          <a:p>
            <a:pPr algn="ctr" indent="0" marL="0">
              <a:buNone/>
            </a:pPr>
            <a:endParaRPr lang="en-US" sz="150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Bronze → Silver → Gold loads with SQL Server Agent so reports stay fresh.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26480" y="1371600"/>
            <a:ext cx="2606040" cy="3108960"/>
          </a:xfrm>
          <a:prstGeom prst="roundRect">
            <a:avLst>
              <a:gd name="adj" fmla="val 3509"/>
            </a:avLst>
          </a:prstGeom>
          <a:solidFill>
            <a:srgbClr val="1B2740"/>
          </a:solidFill>
          <a:ln w="12700">
            <a:solidFill>
              <a:srgbClr val="24335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09460" y="169164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710946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09360" y="2606040"/>
            <a:ext cx="22402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 data quality</a:t>
            </a:r>
            <a:endParaRPr lang="en-US" sz="1500" dirty="0"/>
          </a:p>
          <a:p>
            <a:pPr algn="ctr" indent="0" marL="0">
              <a:buNone/>
            </a:pPr>
            <a:endParaRPr lang="en-US" sz="150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Audit schema to log loads, catch bad rows and enforce data standards.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40880" y="822960"/>
            <a:ext cx="2011680" cy="2011680"/>
          </a:xfrm>
          <a:prstGeom prst="ellipse">
            <a:avLst/>
          </a:prstGeom>
          <a:ln w="254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3291840"/>
            <a:ext cx="1463040" cy="1463040"/>
          </a:xfrm>
          <a:prstGeom prst="ellipse">
            <a:avLst/>
          </a:prstGeom>
          <a:ln w="1905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-731520"/>
            <a:ext cx="1828800" cy="1828800"/>
          </a:xfrm>
          <a:prstGeom prst="ellipse">
            <a:avLst/>
          </a:prstGeom>
          <a:solidFill>
            <a:srgbClr val="16213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96012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YOU!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822960" y="2514600"/>
            <a:ext cx="164592" cy="16459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1234440" y="2350008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Jahongir Murodov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" y="3108960"/>
            <a:ext cx="164592" cy="16459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1234440" y="2944368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Bike Store Data Warehouse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22960" y="3703320"/>
            <a:ext cx="164592" cy="16459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1234440" y="3538728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· Medallion Architecture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Bike Store Data Warehouse Project (SQL)</dc:title>
  <dc:subject>PptxGenJS Presentation</dc:subject>
  <dc:creator>Jahongir Murodov</dc:creator>
  <cp:lastModifiedBy>Jahongir Murodov</cp:lastModifiedBy>
  <cp:revision>1</cp:revision>
  <dcterms:created xsi:type="dcterms:W3CDTF">2026-06-10T13:32:18Z</dcterms:created>
  <dcterms:modified xsi:type="dcterms:W3CDTF">2026-06-10T13:32:18Z</dcterms:modified>
</cp:coreProperties>
</file>